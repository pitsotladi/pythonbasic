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5800" y="658368"/>
            <a:ext cx="722376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1">
                <a:solidFill>
                  <a:srgbClr val="AACDF5"/>
                </a:solidFill>
                <a:latin typeface="Aptos"/>
              </a:rPr>
              <a:t>DATA SCIENCE PROJECT  •  DAY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7132320" cy="1417320"/>
          </a:xfrm>
          <a:prstGeom prst="rect">
            <a:avLst/>
          </a:prstGeom>
          <a:noFill/>
        </p:spPr>
        <p:txBody>
          <a:bodyPr wrap="square" lIns="36576" tIns="13716" rIns="36576" bIns="1371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Telco Customer
Churn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6903720" cy="960120"/>
          </a:xfrm>
          <a:prstGeom prst="roundRect">
            <a:avLst/>
          </a:prstGeom>
          <a:solidFill>
            <a:srgbClr val="1F3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133087"/>
            <a:ext cx="123444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AACDF5"/>
                </a:solidFill>
                <a:latin typeface="Aptos"/>
              </a:rPr>
              <a:t>THE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250710"/>
            <a:ext cx="5166360" cy="2585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Logistic Regression catches about 78% of churners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713232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>
                <a:solidFill>
                  <a:srgbClr val="BECDDE"/>
                </a:solidFill>
                <a:latin typeface="Aptos"/>
              </a:rPr>
              <a:t>Audience: Data Science team  |  Dataset: 7,043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BECDDE"/>
                </a:solidFill>
                <a:latin typeface="Aptos"/>
              </a:rPr>
              <a:t>01  / 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 dirty="0">
                <a:solidFill>
                  <a:srgbClr val="2B69B0"/>
                </a:solidFill>
                <a:latin typeface="Aptos"/>
              </a:rPr>
              <a:t>01 •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Data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clean, imbalanced customer dataset sets the context for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02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5603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73152" cy="114300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30552"/>
            <a:ext cx="2194560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300" b="1">
                <a:solidFill>
                  <a:srgbClr val="14233C"/>
                </a:solidFill>
                <a:latin typeface="Aptos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Rows in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83080"/>
            <a:ext cx="25603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783080"/>
            <a:ext cx="73152" cy="11430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901952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30552"/>
            <a:ext cx="2194560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300" b="1">
                <a:solidFill>
                  <a:srgbClr val="14233C"/>
                </a:solidFill>
                <a:latin typeface="Aptos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606040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Features +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783080"/>
            <a:ext cx="25603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783080"/>
            <a:ext cx="73152" cy="114300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901952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130552"/>
            <a:ext cx="2194560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300" b="1">
                <a:solidFill>
                  <a:srgbClr val="14233C"/>
                </a:solidFill>
                <a:latin typeface="Aptos"/>
              </a:rPr>
              <a:t>26.5%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606040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1,869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783080"/>
            <a:ext cx="25603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783080"/>
            <a:ext cx="73152" cy="11430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5128" y="1901952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MISSING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130552"/>
            <a:ext cx="2194560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300" b="1">
                <a:solidFill>
                  <a:srgbClr val="14233C"/>
                </a:solidFill>
                <a:latin typeface="Apto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606040"/>
            <a:ext cx="21945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900" b="0">
                <a:solidFill>
                  <a:srgbClr val="5F6C7D"/>
                </a:solidFill>
                <a:latin typeface="Aptos"/>
              </a:rPr>
              <a:t>After cleaning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246120"/>
            <a:ext cx="539496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456432"/>
            <a:ext cx="438912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14233C"/>
                </a:solidFill>
                <a:latin typeface="Aptos"/>
              </a:rPr>
              <a:t>TARGET DISTRIBUTION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96512"/>
            <a:ext cx="3427628" cy="438912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23740" y="4096512"/>
            <a:ext cx="1235811" cy="438912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4681728"/>
            <a:ext cx="2240280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2B69B0"/>
                </a:solidFill>
                <a:latin typeface="Aptos"/>
              </a:rPr>
              <a:t>73.5%  Stayed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681728"/>
            <a:ext cx="2103120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E69137"/>
                </a:solidFill>
                <a:latin typeface="Aptos"/>
              </a:rPr>
              <a:t>26.5%  Churned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193792"/>
            <a:ext cx="461772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majority class can make accuracy look deceptively good.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246120"/>
            <a:ext cx="530352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456432"/>
            <a:ext cx="457200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14233C"/>
                </a:solidFill>
                <a:latin typeface="Aptos"/>
              </a:rPr>
              <a:t>CLEANING &amp; QUALITY CHECKS</a:t>
            </a:r>
          </a:p>
        </p:txBody>
      </p:sp>
      <p:sp>
        <p:nvSpPr>
          <p:cNvPr id="36" name="Oval 35"/>
          <p:cNvSpPr/>
          <p:nvPr/>
        </p:nvSpPr>
        <p:spPr>
          <a:xfrm>
            <a:off x="6565392" y="4059935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59" y="3931920"/>
            <a:ext cx="4370832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Cleaned TotalCharges values before modelling.</a:t>
            </a:r>
          </a:p>
        </p:txBody>
      </p:sp>
      <p:sp>
        <p:nvSpPr>
          <p:cNvPr id="38" name="Oval 37"/>
          <p:cNvSpPr/>
          <p:nvPr/>
        </p:nvSpPr>
        <p:spPr>
          <a:xfrm>
            <a:off x="6565392" y="4608576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59" y="4480560"/>
            <a:ext cx="4370832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Confirmed no missing values after cleaning.</a:t>
            </a:r>
          </a:p>
        </p:txBody>
      </p:sp>
      <p:sp>
        <p:nvSpPr>
          <p:cNvPr id="40" name="Oval 39"/>
          <p:cNvSpPr/>
          <p:nvPr/>
        </p:nvSpPr>
        <p:spPr>
          <a:xfrm>
            <a:off x="6565392" y="5157216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59" y="5029200"/>
            <a:ext cx="4370832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Aptos"/>
              </a:rPr>
              <a:t>Used a stratified split to preserve churn proportion.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02 • EXPLORE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Key exploratory data analysis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03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91440" cy="169164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CONTRACT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4805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100" b="1">
                <a:solidFill>
                  <a:srgbClr val="14233C"/>
                </a:solidFill>
                <a:latin typeface="Aptos"/>
              </a:rPr>
              <a:t>Month-to-month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Higher-risk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457200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 dirty="0">
                <a:solidFill>
                  <a:srgbClr val="232D3C"/>
                </a:solidFill>
                <a:latin typeface="Aptos"/>
              </a:rPr>
              <a:t>Longer contracts tend to be stickier.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2578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91440" cy="169164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94767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TENURE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58568"/>
            <a:ext cx="44805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100" b="1">
                <a:solidFill>
                  <a:srgbClr val="14233C"/>
                </a:solidFill>
                <a:latin typeface="Aptos"/>
              </a:rPr>
              <a:t>Short tenure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79191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39B91"/>
                </a:solidFill>
                <a:latin typeface="Aptos"/>
              </a:rPr>
              <a:t>Higher-risk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53512"/>
            <a:ext cx="457200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Newer customers are more likely to leave.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40480"/>
            <a:ext cx="52578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840480"/>
            <a:ext cx="91440" cy="169164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INTERNET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15968"/>
            <a:ext cx="44805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100" b="1">
                <a:solidFill>
                  <a:srgbClr val="14233C"/>
                </a:solidFill>
                <a:latin typeface="Aptos"/>
              </a:rPr>
              <a:t>Fiber optic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3659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E69137"/>
                </a:solidFill>
                <a:latin typeface="Aptos"/>
              </a:rPr>
              <a:t>Appears in both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10912"/>
            <a:ext cx="457200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Service type is associated with churn.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840480"/>
            <a:ext cx="52578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840480"/>
            <a:ext cx="91440" cy="1691640"/>
          </a:xfrm>
          <a:prstGeom prst="rect">
            <a:avLst/>
          </a:prstGeom>
          <a:solidFill>
            <a:srgbClr val="BC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00507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PAYMENT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15968"/>
            <a:ext cx="44805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100" b="1">
                <a:solidFill>
                  <a:srgbClr val="14233C"/>
                </a:solidFill>
                <a:latin typeface="Aptos"/>
              </a:rPr>
              <a:t>Electronic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36592"/>
            <a:ext cx="44805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BC4D4D"/>
                </a:solidFill>
                <a:latin typeface="Aptos"/>
              </a:rPr>
              <a:t>Appears in both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10912"/>
            <a:ext cx="457200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Consider an auto-pay nudge to test.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989320"/>
            <a:ext cx="10881360" cy="365760"/>
          </a:xfrm>
          <a:prstGeom prst="round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025896"/>
            <a:ext cx="1042416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14233C"/>
                </a:solidFill>
                <a:latin typeface="Aptos"/>
              </a:rPr>
              <a:t>Presentation tip: insert the actual Day 17 charts if available; avoid inventing exact churn percentages.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03 • PREPARE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Features &amp; modelling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A consistent preprocessing pipeline supports a fair comparison of two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04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9933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07592" y="2542032"/>
            <a:ext cx="548640" cy="54864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7592" y="2578608"/>
            <a:ext cx="548640" cy="4389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46120"/>
            <a:ext cx="1700784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400" b="1">
                <a:solidFill>
                  <a:srgbClr val="14233C"/>
                </a:solidFill>
                <a:latin typeface="Aptos"/>
              </a:rP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3154680"/>
            <a:ext cx="27432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331720"/>
            <a:ext cx="19933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1880" y="2542032"/>
            <a:ext cx="548640" cy="54864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2578608"/>
            <a:ext cx="548640" cy="4389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246120"/>
            <a:ext cx="1700784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400" b="1">
                <a:solidFill>
                  <a:srgbClr val="14233C"/>
                </a:solidFill>
                <a:latin typeface="Aptos"/>
              </a:rPr>
              <a:t>Engineer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154680"/>
            <a:ext cx="27432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2936" y="2331720"/>
            <a:ext cx="19933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16168" y="2542032"/>
            <a:ext cx="548640" cy="548640"/>
          </a:xfrm>
          <a:prstGeom prst="ellipse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16168" y="2578608"/>
            <a:ext cx="548640" cy="4389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246120"/>
            <a:ext cx="1700784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400" b="1">
                <a:solidFill>
                  <a:srgbClr val="14233C"/>
                </a:solidFill>
                <a:latin typeface="Aptos"/>
              </a:rPr>
              <a:t>Split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154680"/>
            <a:ext cx="27432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8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1712" y="2354580"/>
            <a:ext cx="1993392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03423" y="2606040"/>
            <a:ext cx="548640" cy="54864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03423" y="2710927"/>
            <a:ext cx="548640" cy="4389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8016" y="3409068"/>
            <a:ext cx="1700784" cy="243143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400" b="1" dirty="0">
                <a:solidFill>
                  <a:srgbClr val="14233C"/>
                </a:solidFill>
                <a:latin typeface="Aptos"/>
              </a:rPr>
              <a:t>Train &amp; 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04 •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Model comparison: choose for the business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goal is to catch likely leavers, so recall matters more than accuracy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05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64922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6576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14233C"/>
                </a:solidFill>
                <a:latin typeface="Aptos"/>
              </a:rPr>
              <a:t>TEST SET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155448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423160"/>
            <a:ext cx="192024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164592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Random Forest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16352"/>
            <a:ext cx="5897880" cy="43891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15087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834640"/>
            <a:ext cx="132588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0.738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34640"/>
            <a:ext cx="123444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B69B0"/>
                </a:solidFill>
                <a:latin typeface="Aptos"/>
              </a:rPr>
              <a:t>0.769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5087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337560"/>
            <a:ext cx="132588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0.504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37560"/>
            <a:ext cx="123444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B69B0"/>
                </a:solidFill>
                <a:latin typeface="Aptos"/>
              </a:rPr>
              <a:t>0.556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22191"/>
            <a:ext cx="5897880" cy="43891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79"/>
            <a:ext cx="15087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40479"/>
            <a:ext cx="132588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9B91"/>
                </a:solidFill>
                <a:latin typeface="Aptos"/>
              </a:rPr>
              <a:t>0.783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40479"/>
            <a:ext cx="123444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0.647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5087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343400"/>
            <a:ext cx="132588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9B91"/>
                </a:solidFill>
                <a:latin typeface="Aptos"/>
              </a:rPr>
              <a:t>0.614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343400"/>
            <a:ext cx="123444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0.598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28032"/>
            <a:ext cx="5897880" cy="43891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150876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ROC-AUC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846320"/>
            <a:ext cx="132588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9B91"/>
                </a:solidFill>
                <a:latin typeface="Aptos"/>
              </a:rPr>
              <a:t>0.841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846320"/>
            <a:ext cx="1234440" cy="36576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2D3C"/>
                </a:solidFill>
                <a:latin typeface="Aptos"/>
              </a:rPr>
              <a:t>0.821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1783080"/>
            <a:ext cx="4206240" cy="182880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35240" y="2011680"/>
            <a:ext cx="338328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39B91"/>
                </a:solidFill>
                <a:latin typeface="Aptos"/>
              </a:rPr>
              <a:t>CHOSEN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331720"/>
            <a:ext cx="3474720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100" b="1">
                <a:solidFill>
                  <a:srgbClr val="14233C"/>
                </a:solidFill>
                <a:latin typeface="Aptos"/>
              </a:rPr>
              <a:t>Logistic 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16352"/>
            <a:ext cx="352044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1">
                <a:solidFill>
                  <a:srgbClr val="232D3C"/>
                </a:solidFill>
                <a:latin typeface="Aptos"/>
              </a:rPr>
              <a:t>Recall 0.783  •  ROC-AUC 0.841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822191"/>
            <a:ext cx="4206240" cy="2212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4041648"/>
            <a:ext cx="347472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1">
                <a:solidFill>
                  <a:srgbClr val="14233C"/>
                </a:solidFill>
                <a:latin typeface="Aptos"/>
              </a:rPr>
              <a:t>WHAT THE TRADE-OFF MEANS</a:t>
            </a:r>
          </a:p>
        </p:txBody>
      </p:sp>
      <p:sp>
        <p:nvSpPr>
          <p:cNvPr id="36" name="Oval 35"/>
          <p:cNvSpPr/>
          <p:nvPr/>
        </p:nvSpPr>
        <p:spPr>
          <a:xfrm>
            <a:off x="7635240" y="4590288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36408" y="4462272"/>
            <a:ext cx="3364991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LR catches ~293 of 374 churners.</a:t>
            </a:r>
          </a:p>
        </p:txBody>
      </p:sp>
      <p:sp>
        <p:nvSpPr>
          <p:cNvPr id="38" name="Oval 37"/>
          <p:cNvSpPr/>
          <p:nvPr/>
        </p:nvSpPr>
        <p:spPr>
          <a:xfrm>
            <a:off x="7635240" y="5047488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36408" y="4919472"/>
            <a:ext cx="3364991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RF catches ~242 of 374 churners.</a:t>
            </a:r>
          </a:p>
        </p:txBody>
      </p:sp>
      <p:sp>
        <p:nvSpPr>
          <p:cNvPr id="40" name="Oval 39"/>
          <p:cNvSpPr/>
          <p:nvPr/>
        </p:nvSpPr>
        <p:spPr>
          <a:xfrm>
            <a:off x="7635240" y="5504688"/>
            <a:ext cx="82296" cy="82296"/>
          </a:xfrm>
          <a:prstGeom prst="ellipse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36408" y="5376672"/>
            <a:ext cx="3364991" cy="4389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LR catches ~51 more, with ~95 more false alarms.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14476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5F6C7D"/>
                </a:solidFill>
                <a:latin typeface="Aptos"/>
              </a:rPr>
              <a:t>Baseline: predict “stay” for everyone = 73.5% accuracy, 0% churn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05 •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What appears to drive churn?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Focus on patterns shared by both models; feature importance shows association, not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06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53492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3492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438912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B69B0"/>
                </a:solidFill>
                <a:latin typeface="Aptos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389120" cy="2743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200" b="1">
                <a:solidFill>
                  <a:srgbClr val="239B91"/>
                </a:solidFill>
                <a:latin typeface="Aptos"/>
              </a:rPr>
              <a:t>RANDOM FOREST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96896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Tenure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596896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9128" y="2468880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Tenure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990088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2862072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Contract type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990088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9128" y="2862072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Contract type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383280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255264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Charges / total spend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383280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39128" y="3255264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Charges / total spend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776472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3648456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Internet service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776472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8" y="3648456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Internet service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169663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041648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 dirty="0">
                <a:solidFill>
                  <a:srgbClr val="232D3C"/>
                </a:solidFill>
                <a:latin typeface="Aptos"/>
              </a:rPr>
              <a:t>Online Security / Tech Support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169663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39128" y="4041648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Online Security / Tech Support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4562855"/>
            <a:ext cx="82296" cy="82296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4434840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 dirty="0">
                <a:solidFill>
                  <a:srgbClr val="232D3C"/>
                </a:solidFill>
                <a:latin typeface="Aptos"/>
              </a:rPr>
              <a:t>Electronic check payment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562855"/>
            <a:ext cx="82296" cy="82296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9128" y="4434840"/>
            <a:ext cx="4279392" cy="29260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Electronic check payment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Limitations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The model can help prioritise outreach, but it is not ready to automate retention decisions.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81328"/>
            <a:ext cx="11109960" cy="0"/>
          </a:xfrm>
          <a:prstGeom prst="line">
            <a:avLst/>
          </a:prstGeom>
          <a:ln w="12700">
            <a:solidFill>
              <a:srgbClr val="D7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07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82296" cy="10515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11095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False 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 dirty="0">
                <a:solidFill>
                  <a:srgbClr val="5F6C7D"/>
                </a:solidFill>
                <a:latin typeface="Aptos"/>
              </a:rPr>
              <a:t>~0.50 precision means roughly half of LR-flagged customers may stay.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82296" cy="105156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11095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Accuracy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12848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 dirty="0">
                <a:solidFill>
                  <a:srgbClr val="5F6C7D"/>
                </a:solidFill>
                <a:latin typeface="Aptos"/>
              </a:rPr>
              <a:t>0.738 accuracy is only slightly above the 0.735 do-nothing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0896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108960"/>
            <a:ext cx="82296" cy="10515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36976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Single train/test split; cross-validation and threshold tuning still needed if not already done.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0896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82296" cy="105156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236976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Static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38728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One company snapshot; no seasonality or timing of churn.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82296" cy="10515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62855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Feature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64607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Correlated charge and tenure variables blur exact importance rankings.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34840"/>
            <a:ext cx="52120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434840"/>
            <a:ext cx="82296" cy="10515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562855"/>
            <a:ext cx="4663440" cy="2468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300" b="1">
                <a:solidFill>
                  <a:srgbClr val="14233C"/>
                </a:solidFill>
                <a:latin typeface="Aptos"/>
              </a:rPr>
              <a:t>Not causal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64607"/>
            <a:ext cx="4663440" cy="4572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0">
                <a:solidFill>
                  <a:srgbClr val="5F6C7D"/>
                </a:solidFill>
                <a:latin typeface="Aptos"/>
              </a:rPr>
              <a:t>Patterns are associations; retention actions need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7772400" cy="2560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B69B0"/>
                </a:solidFill>
                <a:latin typeface="Aptos"/>
              </a:rPr>
              <a:t>07 • ACT &amp;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600" b="1">
                <a:solidFill>
                  <a:srgbClr val="14233C"/>
                </a:solidFill>
                <a:latin typeface="Aptos"/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0972800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5F6C7D"/>
                </a:solidFill>
                <a:latin typeface="Aptos"/>
              </a:rPr>
              <a:t>Use the model to guide a low-cost pilot, then improve it using business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10528"/>
            <a:ext cx="1325880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800" b="0">
                <a:solidFill>
                  <a:srgbClr val="5F6C7D"/>
                </a:solidFill>
                <a:latin typeface="Aptos"/>
              </a:rPr>
              <a:t>08  /  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82296" cy="5669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1874519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239B91"/>
                </a:solidFill>
                <a:latin typeface="Aptos"/>
              </a:rPr>
              <a:t>SALES /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87168"/>
            <a:ext cx="8321040" cy="40233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 dirty="0">
                <a:solidFill>
                  <a:srgbClr val="232D3C"/>
                </a:solidFill>
                <a:latin typeface="Aptos"/>
              </a:rPr>
              <a:t>Test discounts or perks for customers considering longer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08960"/>
            <a:ext cx="82296" cy="566928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1874519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>
                <a:solidFill>
                  <a:srgbClr val="E69137"/>
                </a:solidFill>
                <a:latin typeface="Aptos"/>
              </a:rPr>
              <a:t>PRODUCT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72968"/>
            <a:ext cx="8321040" cy="40233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Aptos"/>
              </a:rPr>
              <a:t>Test bundles for Online Security and Tech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10896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1416" y="3786692"/>
            <a:ext cx="82296" cy="56692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913632"/>
            <a:ext cx="1874519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000" b="1" dirty="0">
                <a:solidFill>
                  <a:srgbClr val="239B91"/>
                </a:solidFill>
                <a:latin typeface="Aptos"/>
              </a:rPr>
              <a:t>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900" y="3893192"/>
            <a:ext cx="8321040" cy="40233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1100" b="0" dirty="0">
                <a:solidFill>
                  <a:srgbClr val="232D3C"/>
                </a:solidFill>
                <a:latin typeface="Aptos"/>
              </a:rPr>
              <a:t>Tune the threshold using offer cost vs. saved-customer value; add cross-validation and try gradient boosting.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601</Words>
  <Application>Microsoft Office PowerPoint</Application>
  <PresentationFormat>Widescreen</PresentationFormat>
  <Paragraphs>139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kgaogelo Tladi</dc:creator>
  <cp:keywords/>
  <dc:description>generated using python-pptx</dc:description>
  <cp:lastModifiedBy>PITSO  TLADI</cp:lastModifiedBy>
  <cp:revision>2</cp:revision>
  <dcterms:created xsi:type="dcterms:W3CDTF">2013-01-27T09:14:16Z</dcterms:created>
  <dcterms:modified xsi:type="dcterms:W3CDTF">2026-10-21T12:40:02Z</dcterms:modified>
  <cp:category/>
</cp:coreProperties>
</file>